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d508796a99475e" /><Relationship Type="http://schemas.openxmlformats.org/officeDocument/2006/relationships/extended-properties" Target="/docProps/app.xml" Id="R5e0b97b830a64078" /><Relationship Type="http://schemas.openxmlformats.org/officeDocument/2006/relationships/officeDocument" Target="/ppt/presentation.xml" Id="R78d7e5519e0544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8928599a34626"/>
  </p:sldMasterIdLst>
  <p:notesMasterIdLst>
    <p:notesMasterId xmlns:r="http://schemas.openxmlformats.org/officeDocument/2006/relationships" r:id="Rfc58a6f775e44916"/>
  </p:notesMasterIdLst>
  <p:sldIdLst>
    <p:sldId xmlns:r="http://schemas.openxmlformats.org/officeDocument/2006/relationships" id="256" r:id="Rd9ebd86fc4384c2a"/>
    <p:sldId xmlns:r="http://schemas.openxmlformats.org/officeDocument/2006/relationships" id="257" r:id="Rad7d947072424177"/>
    <p:sldId xmlns:r="http://schemas.openxmlformats.org/officeDocument/2006/relationships" id="258" r:id="R3a249652dfd84d51"/>
    <p:sldId xmlns:r="http://schemas.openxmlformats.org/officeDocument/2006/relationships" id="259" r:id="R838cfddfbbcb45eb"/>
    <p:sldId xmlns:r="http://schemas.openxmlformats.org/officeDocument/2006/relationships" id="260" r:id="Ra5d0457fd5094f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cfde67dbf44a09" /><Relationship Type="http://schemas.openxmlformats.org/officeDocument/2006/relationships/slideMaster" Target="/ppt/slideMasters/slideMaster1.xml" Id="Rafd8928599a34626" /><Relationship Type="http://schemas.openxmlformats.org/officeDocument/2006/relationships/notesMaster" Target="/ppt/notesMasters/notesMaster1.xml" Id="Rfc58a6f775e44916" /><Relationship Type="http://schemas.openxmlformats.org/officeDocument/2006/relationships/presProps" Target="/ppt/presProps.xml" Id="R0e0ddd5d78e54ba8" /><Relationship Type="http://schemas.openxmlformats.org/officeDocument/2006/relationships/tableStyles" Target="/ppt/tableStyles.xml" Id="Rc27a229cec8f418f" /><Relationship Type="http://schemas.openxmlformats.org/officeDocument/2006/relationships/slide" Target="/ppt/slides/slide1.xml" Id="Rd9ebd86fc4384c2a" /><Relationship Type="http://schemas.openxmlformats.org/officeDocument/2006/relationships/slide" Target="/ppt/slides/slide2.xml" Id="Rad7d947072424177" /><Relationship Type="http://schemas.openxmlformats.org/officeDocument/2006/relationships/slide" Target="/ppt/slides/slide3.xml" Id="R3a249652dfd84d51" /><Relationship Type="http://schemas.openxmlformats.org/officeDocument/2006/relationships/slide" Target="/ppt/slides/slide4.xml" Id="R838cfddfbbcb45eb" /><Relationship Type="http://schemas.openxmlformats.org/officeDocument/2006/relationships/slide" Target="/ppt/slides/slide5.xml" Id="Ra5d0457fd5094f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96aa7ea22e43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3e8631b3b64696" /><Relationship Type="http://schemas.openxmlformats.org/officeDocument/2006/relationships/notesMaster" Target="/ppt/notesMasters/notesMaster1.xml" Id="R1440424aa5dd47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b1ebc3f434b6f" /><Relationship Type="http://schemas.openxmlformats.org/officeDocument/2006/relationships/notesMaster" Target="/ppt/notesMasters/notesMaster1.xml" Id="R0952b2a4186f40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1704926a8c43d8" /><Relationship Type="http://schemas.openxmlformats.org/officeDocument/2006/relationships/notesMaster" Target="/ppt/notesMasters/notesMaster1.xml" Id="R2df6ac62d74f43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eb0e3f36934cfa" /><Relationship Type="http://schemas.openxmlformats.org/officeDocument/2006/relationships/notesMaster" Target="/ppt/notesMasters/notesMaster1.xml" Id="Rf9013b1f5d0d40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714e79ea1d4b76" /><Relationship Type="http://schemas.openxmlformats.org/officeDocument/2006/relationships/notesMaster" Target="/ppt/notesMasters/notesMaster1.xml" Id="R99b3e97cf92642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资料截至2026-10-07。仅讲历史纯契约实验的 chatdev.coding.v1，未启用模型裁决。来源：</a:t>
            </a:r>
          </a:p>
          <a:p xmlns:a="http://schemas.openxmlformats.org/drawingml/2006/main">
            <a:r>
              <a:t>D:/Projects/mpst-content-validation-lab/chatdev-contracts.json</a:t>
            </a:r>
          </a:p>
          <a:p xmlns:a="http://schemas.openxmlformats.org/drawingml/2006/main">
            <a:r>
              <a:t>D:/Projects/mpst-content-validation-lab/content_lab/chatdev_contracts.py</a:t>
            </a:r>
          </a:p>
          <a:p xmlns:a="http://schemas.openxmlformats.org/drawingml/2006/main">
            <a:r>
              <a:t>D:/Projects/mpst-content-validation-lab/integrations/ChatDev1.0/chatdev/content_guard.py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资料截至2026-10-07。仅讲历史纯契约实验的 chatdev.coding.v1，未启用模型裁决。来源：</a:t>
            </a:r>
          </a:p>
          <a:p xmlns:a="http://schemas.openxmlformats.org/drawingml/2006/main">
            <a:r>
              <a:t>D:/Projects/mpst-content-validation-lab/content_lab/chatdev_contracts.py</a:t>
            </a:r>
          </a:p>
          <a:p xmlns:a="http://schemas.openxmlformats.org/drawingml/2006/main">
            <a:r>
              <a:t>D:/Projects/mpst-content-validation-lab/content_lab/source_files.py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资料截至2026-10-07。仅讲历史纯契约实验的 chatdev.coding.v1，未启用模型裁决。来源：</a:t>
            </a:r>
          </a:p>
          <a:p xmlns:a="http://schemas.openxmlformats.org/drawingml/2006/main">
            <a:r>
              <a:t>D:/Projects/mpst-content-validation-lab/content_lab/chatdev_contracts.py</a:t>
            </a:r>
          </a:p>
          <a:p xmlns:a="http://schemas.openxmlformats.org/drawingml/2006/main">
            <a:r>
              <a:t>D:/Projects/mpst-content-validation-lab/content_lab/source_files.py</a:t>
            </a:r>
          </a:p>
          <a:p xmlns:a="http://schemas.openxmlformats.org/drawingml/2006/main">
            <a:r>
              <a:t>实际代码见 chatdev_contracts.py:210。节选省略解析异常、文件名检查和 CodeComplete 分支。Coding 下 selected=None，placeholders 检查所有合并文件。长条件以 Python 续行形式显示。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资料截至2026-10-07。仅讲历史纯契约实验的 chatdev.coding.v1，未启用模型裁决。来源：</a:t>
            </a:r>
          </a:p>
          <a:p xmlns:a="http://schemas.openxmlformats.org/drawingml/2006/main">
            <a:r>
              <a:t>D:/Projects/mpst-content-validation-lab/content_lab/chatdev_contracts.py</a:t>
            </a:r>
          </a:p>
          <a:p xmlns:a="http://schemas.openxmlformats.org/drawingml/2006/main">
            <a:r>
              <a:t>compile_checks 中执行 ast.parse 和 compile；捕获 SyntaxError、ValueError 返回 python_compile。placeholders 遍历 ast.FunctionDef/AsyncFunctionDef，移除首个文档字符串，判断剩余是否全部 pass/Ellipsis，或函数直接语句中是否 raise NotImplementedError（裸名称或调用）。这不是完整的未实现检测，更不证明算法满足需求。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资料截至2026-10-07。仅讲历史纯契约实验的 chatdev.coding.v1，未启用模型裁决。来源：</a:t>
            </a:r>
          </a:p>
          <a:p xmlns:a="http://schemas.openxmlformats.org/drawingml/2006/main">
            <a:r>
              <a:t>D:/Projects/mpst-content-validation-lab/content_lab/chatdev_contracts.py</a:t>
            </a:r>
          </a:p>
          <a:p xmlns:a="http://schemas.openxmlformats.org/drawingml/2006/main">
            <a:r>
              <a:t>D:/Projects/mpst-content-validation-lab/content_lab/source_files.py</a:t>
            </a:r>
          </a:p>
          <a:p xmlns:a="http://schemas.openxmlformats.org/drawingml/2006/main">
            <a:r>
              <a:t>D:/Projects/mpst-content-validation-lab/integrations/ChatDev1.0/camel/agents/role_playing.py</a:t>
            </a:r>
          </a:p>
          <a:p xmlns:a="http://schemas.openxmlformats.org/drawingml/2006/main">
            <a:r>
              <a:t>D:\Projects\mpst-a2a-validator\tmp\ppt_experiment_summary_build/coding-demo-results.json</a:t>
            </a:r>
          </a:p>
          <a:p xmlns:a="http://schemas.openxmlformats.org/drawingml/2006/main">
            <a:r>
              <a:t>D:/Projects/mpst-content-validation-lab/benchmarks/programdev/runs/glm53_content30_previous_20261007_r10/tasks/24_CandyCrush/content-contract-audit.json</a:t>
            </a:r>
          </a:p>
          <a:p xmlns:a="http://schemas.openxmlformats.org/drawingml/2006/main">
            <a:r>
              <a:t>D:/Projects/mpst-content-validation-lab/benchmarks/programdev/runs/glm53_content30_previous_20261007_r10/tasks/24_CandyCrush/run_result.json</a:t>
            </a:r>
          </a:p>
          <a:p xmlns:a="http://schemas.openxmlformats.org/drawingml/2006/main">
            <a:r>
              <a:t>7 个离线示例全部符合预期。主展示合法、占位、语法错误和没有入口四个；未声明文件、重复文件、generation length 也验证了相应拒绝。CandyCrush 是历史 R10 原始实验记录，Coding 两次 output_truncated，第三次接受。整题另有一次审查截断，不计作编码次数。最终 artifact_pass=true 是自动产物验收，不是统一金标准功能证明。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18eb681a944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b94b53e62a47d6" /><Relationship Type="http://schemas.openxmlformats.org/officeDocument/2006/relationships/slideLayout" Target="/ppt/slideLayouts/slideLayout1.xml" Id="Rcc8d4e5b995e49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8d4e5b995e49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315952090413e" /><Relationship Type="http://schemas.openxmlformats.org/officeDocument/2006/relationships/notesSlide" Target="/ppt/notesSlides/notesSlide1.xml" Id="Rc5662b66f0eb45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07d511c8f4d75" /><Relationship Type="http://schemas.openxmlformats.org/officeDocument/2006/relationships/notesSlide" Target="/ppt/notesSlides/notesSlide2.xml" Id="Rf037de33eb0348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474609d464eda" /><Relationship Type="http://schemas.openxmlformats.org/officeDocument/2006/relationships/notesSlide" Target="/ppt/notesSlides/notesSlide3.xml" Id="Ra1d433c868fe4b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c241ad3b84700" /><Relationship Type="http://schemas.openxmlformats.org/officeDocument/2006/relationships/notesSlide" Target="/ppt/notesSlides/notesSlide4.xml" Id="R0420ce96649d4a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18c510c0d4cfe" /><Relationship Type="http://schemas.openxmlformats.org/officeDocument/2006/relationships/notesSlide" Target="/ppt/notesSlides/notesSlide5.xml" Id="Rd7ef7fa6de6246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13865-FB4F-4736-BA2E-03CCDC72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编码契约的定义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858FD-8052-46A3-BF20-545B2B0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100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chatdev.coding.v1：规定 Programmer 的编码结果何时可以交付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B58DF-077B-419E-920A-FDD345F3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F1E70-EEFA-4D3E-A8AA-FA545088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193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实验注册表中的实际内容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EEA85-B410-494E-A672-E114700E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86050"/>
            <a:ext cx="6334125" cy="282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"Coding": {</a:t>
            </a:r>
          </a:p>
          <a:p xmlns:a="http://schemas.openxmlformats.org/drawingml/2006/main">
            <a:pPr>
              <a:def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"sender": "Programmer",</a:t>
            </a:r>
          </a:p>
          <a:p xmlns:a="http://schemas.openxmlformats.org/drawingml/2006/main">
            <a:pPr>
              <a:def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"receiver": "Coordinator",</a:t>
            </a:r>
          </a:p>
          <a:p xmlns:a="http://schemas.openxmlformats.org/drawingml/2006/main">
            <a:pPr>
              <a:def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"label": "codingResult",</a:t>
            </a:r>
          </a:p>
          <a:p xmlns:a="http://schemas.openxmlformats.org/drawingml/2006/main">
            <a:pPr>
              <a:def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"contract": "chatdev.coding.v1",</a:t>
            </a:r>
          </a:p>
          <a:p xmlns:a="http://schemas.openxmlformats.org/drawingml/2006/main">
            <a:pPr>
              <a:def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"checks": [</a:t>
            </a:r>
          </a:p>
          <a:p xmlns:a="http://schemas.openxmlformats.org/drawingml/2006/main">
            <a:pPr>
              <a:def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  "nonempty",</a:t>
            </a:r>
          </a:p>
          <a:p xmlns:a="http://schemas.openxmlformats.org/drawingml/2006/main">
            <a:pPr>
              <a:def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  "source_output"</a:t>
            </a:r>
          </a:p>
          <a:p xmlns:a="http://schemas.openxmlformats.org/drawingml/2006/main">
            <a:pPr>
              <a:def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]</a:t>
            </a:r>
          </a:p>
          <a:p xmlns:a="http://schemas.openxmlformats.org/drawingml/2006/main">
            <a:pPr>
              <a:def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E4A75-B1F8-461E-86FC-C5368ACB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19300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什么时候执行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A1B41-597C-4106-8909-C1BBF037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38425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Coding 阶段生成候选回复后，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框架调用 validate() 检查。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1EA8A-ACF2-4209-9503-C996B97A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0000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谁来作判断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A71BD-A5D8-4724-B0E9-A4042210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29125"/>
            <a:ext cx="4000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nonempty 检查非空。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source_output 检查源码交付。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规则由 Python 检查程序执行。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1F98F-DAC2-4358-800B-129CAF45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33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注册项绑定阶段、角色、消息标签和契约版本。具体要求由检查函数展开，Coordinator 表示实验的阶段调度抽象。</a:t>
            </a:r>
          </a:p>
        </p:txBody>
      </p:sp>
    </p:spTree>
    <p:extLst>
      <p:ext uri="{BB962C8B-B14F-4D97-AF65-F5344CB8AC3E}">
        <p14:creationId xmlns:p14="http://schemas.microsoft.com/office/powerpoint/2010/main" val="1180459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6AE9C-8907-4871-9EDA-9BE41EFC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编码契约的具体内容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A9437-EB85-4687-B700-B6484476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100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候选回复必须同时满足以下条件，发现首个问题即拒绝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45D75-96B5-4030-B16D-53A4B604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1095375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19275"/>
                <a:gridCol w="5514975"/>
                <a:gridCol w="3619500"/>
              </a:tblGrid>
              <a:tr h="622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114300" marR="95250" marT="28575" marB="28575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编码阶段的实际要求</a:t>
                      </a:r>
                    </a:p>
                  </a:txBody>
                  <a:tcPr marL="114300" marR="95250" marT="28575" marB="28575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典型拒绝规则</a:t>
                      </a:r>
                    </a:p>
                  </a:txBody>
                  <a:tcPr marL="114300" marR="95250" marT="28575" marB="28575">
                    <a:solidFill>
                      <a:srgbClr val="122735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回复完整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非空字符串，生成未被标记为截断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nonempty / output_truncated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文件交付格式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代码块前独立声明平铺 .py 文件名。</a:t>
                      </a:r>
                    </a:p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代码块闭合，语言为 python / py / 空。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source_filename /</a:t>
                      </a:r>
                    </a:p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source_block_language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文件内容唯一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至少提取一个 Python 文件，文件内容非空。</a:t>
                      </a:r>
                    </a:p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同一回复中，每个文件只声明一次。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missing_source_files /</a:t>
                      </a:r>
                    </a:p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empty_source_file / duplicate_source_file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当前源码可编译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按文件名合并新旧源码，编译全部 .py 文件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python_compile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入口与实现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合并结果包含 main.py。</a:t>
                      </a:r>
                    </a:p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全部文件中没有被规则识别的占位函数。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entry_point / unimplemented_function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3993E-E33D-46FB-ADF6-7DC64C3D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33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文件名规则：[A-Za-z_][A-Za-z0-9_.-]*\.py。明显占位包括仅文档、pass、...，或直接 raise NotImplementedError。</a:t>
            </a:r>
          </a:p>
        </p:txBody>
      </p:sp>
    </p:spTree>
    <p:extLst>
      <p:ext uri="{BB962C8B-B14F-4D97-AF65-F5344CB8AC3E}">
        <p14:creationId xmlns:p14="http://schemas.microsoft.com/office/powerpoint/2010/main" val="1006200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83FB9-1224-47ED-9179-923427FD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检查代码：解析、合并、编译与入口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58A29-4DBF-4A60-91CE-5E8B8133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100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source_output() 的 Coding 路径，下面保留核心代码并省略错误反馈参数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3F009-594A-4EAD-8D31-4627C4B3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B6CC0-2CF0-4ACA-9B41-8163BBE3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097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源码检查的核心代码（节选）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AE3EC-2FEC-412E-B765-C8029960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47950"/>
            <a:ext cx="67056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extracted = Codes(text).codebooks</a:t>
            </a:r>
          </a:p>
          <a:p xmlns:a="http://schemas.openxmlformats.org/drawingml/2006/main">
            <a:pPr>
              <a:def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# 文件解析与合法性检查，略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merged = {**ctx["files"], **extracted}</a:t>
            </a:r>
          </a:p>
          <a:p xmlns:a="http://schemas.openxmlformats.org/drawingml/2006/main">
            <a:pPr>
              <a:def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findings = compile_checks(merged)</a:t>
            </a:r>
          </a:p>
          <a:p xmlns:a="http://schemas.openxmlformats.org/drawingml/2006/main">
            <a:pPr>
              <a:def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if findings:</a:t>
            </a:r>
          </a:p>
          <a:p xmlns:a="http://schemas.openxmlformats.org/drawingml/2006/main">
            <a:pPr>
              <a:def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  return findings</a:t>
            </a:r>
          </a:p>
          <a:p xmlns:a="http://schemas.openxmlformats.org/drawingml/2006/main">
            <a:pPr>
              <a:def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if ctx["phase"] == "Coding" and \</a:t>
            </a:r>
          </a:p>
          <a:p xmlns:a="http://schemas.openxmlformats.org/drawingml/2006/main">
            <a:pPr>
              <a:def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      "main.py" not in merged:</a:t>
            </a:r>
          </a:p>
          <a:p xmlns:a="http://schemas.openxmlformats.org/drawingml/2006/main">
            <a:pPr>
              <a:def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  return fail("C2", "entry_point", 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return placeholders(merged, selected)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28315-38BD-4380-8436-C629ED7D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3781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外层 validate() 先检查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33680-1E29-43AA-A01E-00F9DE1B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57475"/>
            <a:ext cx="37814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1  生成是否截断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2  回复是否非空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3  调用 source_output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640D3-C225-4C16-BA0E-8FDF9593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57675"/>
            <a:ext cx="37814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ctx["files"] 是已接受源码。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新文件覆盖同名旧文件，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未更新的旧文件继续保留。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D9E53-2E91-417E-9F02-61ADDD29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33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Codes 与实际落盘共用 parse_source_files。Coding 下 selected=None，最后检查全部合并文件的明显占位函数。</a:t>
            </a:r>
          </a:p>
        </p:txBody>
      </p:sp>
    </p:spTree>
    <p:extLst>
      <p:ext uri="{BB962C8B-B14F-4D97-AF65-F5344CB8AC3E}">
        <p14:creationId xmlns:p14="http://schemas.microsoft.com/office/powerpoint/2010/main" val="810659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C525C-307D-4B11-8D58-455732D3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检查代码：编译与占位函数判断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B9A4F-4D06-476B-A7B0-6902947A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100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编译检查语法和 Python 结构，AST 检查函数是否留下明显空实现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A5C40-09D1-498E-81FA-29109FFC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C5F3C-234D-4305-8F28-A1198577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907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compile_checks() 的实际操作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D6D1A-CCE2-4CAB-A913-E961D96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003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tree = ast.parse(source, filename=name)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compile(tree, name, "exec")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19125" y="3648075"/>
          <a:ext xmlns:a="http://schemas.openxmlformats.org/drawingml/2006/main" cx="10953750" cy="2124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4175"/>
                <a:gridCol w="4791075"/>
                <a:gridCol w="3238500"/>
              </a:tblGrid>
              <a:tr h="5310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示例函数体</a:t>
                      </a:r>
                    </a:p>
                  </a:txBody>
                  <a:tcPr marL="114300" marR="95250" marT="28575" marB="28575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程序如何识别</a:t>
                      </a:r>
                    </a:p>
                  </a:txBody>
                  <a:tcPr marL="114300" marR="95250" marT="28575" marB="28575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114300" marR="95250" marT="28575" marB="28575">
                    <a:solidFill>
                      <a:srgbClr val="122735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/ ... / 仅文档字符串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移除首个文档字符串后，</a:t>
                      </a:r>
                    </a:p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没有语句或全部是 pass / Ellipsis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unimplemented_function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raise NotImplementedError()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函数的直接语句中发现此异常抛出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unimplemented_function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return a + b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没有命中上述占位形式，且源码可编译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这项检查通过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847F6-B03E-4CDF-B1B8-49AD6272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33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ast.parse 与 compile 不运行程序。return a - b 也可能通过契约，算法是否满足“求和”需求需要独立功能测试。</a:t>
            </a:r>
          </a:p>
        </p:txBody>
      </p:sp>
    </p:spTree>
    <p:extLst>
      <p:ext uri="{BB962C8B-B14F-4D97-AF65-F5344CB8AC3E}">
        <p14:creationId xmlns:p14="http://schemas.microsoft.com/office/powerpoint/2010/main" val="209917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6E3E9-0A15-4BAB-A41C-12FA059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同一编码契约的接受与拒绝示例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37D90-54AF-4AD3-8496-58FA6666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100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下面的简化示例已用原检查器离线验证，没有调用生成模型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E4406-A6C7-4C54-8660-B9D905EF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08313-7B5C-4D22-9A30-8A20280C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19300"/>
            <a:ext cx="498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合法交付的示意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C7909-3B3D-4D45-BEE3-BF9FEA7B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67000"/>
            <a:ext cx="4791075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main.py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```python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def add(a, b):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    return a + b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print(add(1, 2))</a:t>
            </a:r>
          </a:p>
          <a:p xmlns:a="http://schemas.openxmlformats.org/drawingml/2006/main">
            <a:pPr>
              <a:def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```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91200" y="2038350"/>
          <a:ext xmlns:a="http://schemas.openxmlformats.org/drawingml/2006/main" cx="5781675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3175"/>
                <a:gridCol w="3238500"/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候选内容变化</a:t>
                      </a:r>
                    </a:p>
                  </a:txBody>
                  <a:tcPr marL="114300" marR="95250" marT="28575" marB="28575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检查结果</a:t>
                      </a:r>
                    </a:p>
                  </a:txBody>
                  <a:tcPr marL="114300" marR="95250" marT="28575" marB="28575">
                    <a:solidFill>
                      <a:srgbClr val="12273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文件齐全，代码完整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接受编码交付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函数改为 pass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unimplemented_function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def add( 未闭合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python_compile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仅交付 utils.py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entry_point</a:t>
                      </a:r>
                    </a:p>
                  </a:txBody>
                  <a:tcPr marL="114300" marR="95250" marT="28575" marB="28575">
                    <a:solidFill>
                      <a:srgbClr val="0D1B2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DB854-212F-46D1-89E0-3D2126A8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7207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真实实验：CandyCrush R10 的 Coding 两次因输出截断被拒绝，第三次接受。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9570B-5569-4A5A-A6A0-11C4A0F7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6262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拒绝后反馈具体违规并在原阶段重试，最多 3 次尝试。被拒源码不提交为阶段结果。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D9DC0-1775-4EC8-B435-E4C33B2D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53175"/>
            <a:ext cx="1033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合法示例只证明达到交付条件。CandyCrush 最终自动产物验收通过，不能据此单独证明契约造成了正确率提升。</a:t>
            </a:r>
          </a:p>
        </p:txBody>
      </p:sp>
    </p:spTree>
    <p:extLst>
      <p:ext uri="{BB962C8B-B14F-4D97-AF65-F5344CB8AC3E}">
        <p14:creationId xmlns:p14="http://schemas.microsoft.com/office/powerpoint/2010/main" val="1924265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2026-10-07T09:36:12.5980000Z</dcterms:created>
  <dcterms:modified xsi:type="dcterms:W3CDTF">2026-10-07T09:36:12.5980000Z</dcterms:modified>
</coreProperties>
</file>