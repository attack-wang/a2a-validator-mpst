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最终正确率</c:v>
          </c:tx>
          <c:spPr>
            <a:solidFill>
              <a:srgbClr val="59B1F3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9BAC8"/>
              </a:solidFill>
            </c:spPr>
            <c:extLst>
              <c:ext xmlns:c16="http://schemas.microsoft.com/office/drawing/2014/chart" uri="{C3380CC4-5D6E-409C-BE32-E72D297353CC}">
                <c16:uniqueId val="{00000001-CC3F-4225-A649-D97E7FB1F8D8}"/>
              </c:ext>
            </c:extLst>
          </c:dPt>
          <c:dPt>
            <c:idx val="1"/>
            <c:invertIfNegative val="0"/>
            <c:bubble3D val="0"/>
            <c:spPr>
              <a:solidFill>
                <a:srgbClr val="59B1F3"/>
              </a:solidFill>
            </c:spPr>
            <c:extLst>
              <c:ext xmlns:c16="http://schemas.microsoft.com/office/drawing/2014/chart" uri="{C3380CC4-5D6E-409C-BE32-E72D297353CC}">
                <c16:uniqueId val="{00000003-CC3F-4225-A649-D97E7FB1F8D8}"/>
              </c:ext>
            </c:extLst>
          </c:dPt>
          <c:dPt>
            <c:idx val="2"/>
            <c:invertIfNegative val="0"/>
            <c:bubble3D val="0"/>
            <c:spPr>
              <a:solidFill>
                <a:srgbClr val="32D9C4"/>
              </a:solidFill>
            </c:spPr>
            <c:extLst>
              <c:ext xmlns:c16="http://schemas.microsoft.com/office/drawing/2014/chart" uri="{C3380CC4-5D6E-409C-BE32-E72D297353CC}">
                <c16:uniqueId val="{00000005-CC3F-4225-A649-D97E7FB1F8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400" b="1">
                    <a:solidFill>
                      <a:srgbClr val="F3F7F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ChatDev 基线</c:v>
                </c:pt>
                <c:pt idx="1">
                  <c:v>ChatDev + MPST</c:v>
                </c:pt>
                <c:pt idx="2">
                  <c:v>ChatDev + MPST + 契约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0.29333333333299999</c:v>
                </c:pt>
                <c:pt idx="1">
                  <c:v>0.303333333333</c:v>
                </c:pt>
                <c:pt idx="2">
                  <c:v>0.555555555556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CC3F-4225-A649-D97E7FB1F8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14756"/>
            </a:solidFill>
          </a:ln>
        </c:spPr>
        <c:txPr>
          <a:bodyPr anchorCtr="1"/>
          <a:lstStyle/>
          <a:p>
            <a:pPr>
              <a:defRPr sz="1875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6668">
              <a:solidFill>
                <a:srgbClr val="314756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0D1B28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D1B28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D:/Projects/mpst-a2a-validator/benchmarks/programdev/glm53_13round_summary_20261005.md</a:t>
            </a:r>
          </a:p>
          <a:p>
            <a:r>
              <a:t>D:/Projects/mpst-content-validation-lab/benchmarks/programdev/runs/glm53_content30_previous_20261007_r12/REPEAT_COMPARISON.md</a:t>
            </a:r>
          </a:p>
          <a:p>
            <a:r>
              <a:t>截至2026-10-07。基线与仅MPST使用最近10轮1500秒实验，排除早期900秒批次。契约组使用固定纯契约配置12轮，关闭JEV/TEV决策。每轮同一组30题重新生成。各组采用最终artifact_pass，不依据workflow状态过滤分母。契约组初评198/360，R1与R3各有一次评估接口异常补评，最终确认200/360。基线与MPST最终评估包含原记录中的依赖补齐修正。不同版本提示、生成策略和环境存在差异，跨组属于描述性比较，不能把差值单独归因于契约。统一金标准功能测试尚未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D:/Projects/mpst-a2a-validator/benchmarks/programdev/glm53_13round_summary_20261005.md</a:t>
            </a:r>
          </a:p>
          <a:p>
            <a:r>
              <a:t>D:/Projects/mpst-content-validation-lab/benchmarks/programdev/runs/glm53_content30_previous_20261007_r12/REPEAT_COMPARISON.md</a:t>
            </a:r>
          </a:p>
          <a:p>
            <a:r>
              <a:t>截至2026-10-07。基线与仅MPST使用最近10轮1500秒实验，排除早期900秒批次。契约组使用固定纯契约配置12轮，关闭JEV/TEV决策。每轮同一组30题重新生成。各组采用最终artifact_pass，不依据workflow状态过滤分母。契约组初评198/360，R1与R3各有一次评估接口异常补评，最终确认200/360。基线与MPST最终评估包含原记录中的依赖补齐修正。不同版本提示、生成策略和环境存在差异，跨组属于描述性比较，不能把差值单独归因于契约。统一金标准功能测试尚未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D:/Projects/mpst-a2a-validator/benchmarks/programdev/glm53_13round_summary_20261005.md</a:t>
            </a:r>
          </a:p>
          <a:p>
            <a:r>
              <a:t>D:/Projects/mpst-content-validation-lab/benchmarks/programdev/runs/glm53_content30_previous_20261007_r12/REPEAT_COMPARISON.md</a:t>
            </a:r>
          </a:p>
          <a:p>
            <a:r>
              <a:t>截至2026-10-07。基线与仅MPST使用最近10轮1500秒实验，排除早期900秒批次。契约组使用固定纯契约配置12轮，关闭JEV/TEV决策。每轮同一组30题重新生成。各组采用最终artifact_pass，不依据workflow状态过滤分母。契约组初评198/360，R1与R3各有一次评估接口异常补评，最终确认200/360。基线与MPST最终评估包含原记录中的依赖补齐修正。不同版本提示、生成策略和环境存在差异，跨组属于描述性比较，不能把差值单独归因于契约。统一金标准功能测试尚未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1F17CBA-C1B8-4CEE-BA24-D8EFCF66A58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347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三种方案的最终正确率对比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190B2B-2BEF-4ADE-BEFD-BCB7AAD2CFF0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同一组 30 道 ProgramDev 题目，采用最终自动验收结果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2AE468-3079-4504-A611-B037A8CD95AA}"/>
              </a:ext>
            </a:extLst>
          </p:cNvPr>
          <p:cNvSpPr>
            <a:spLocks noGrp="1"/>
          </p:cNvSpPr>
          <p:nvPr/>
        </p:nvSpPr>
        <p:spPr>
          <a:xfrm>
            <a:off x="11144250" y="6315075"/>
            <a:ext cx="4953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28650" y="1847850"/>
          <a:ext cx="1093470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41D210F-F55A-41CB-BB2D-2BDC56B22A2F}"/>
              </a:ext>
            </a:extLst>
          </p:cNvPr>
          <p:cNvSpPr>
            <a:spLocks noGrp="1"/>
          </p:cNvSpPr>
          <p:nvPr/>
        </p:nvSpPr>
        <p:spPr>
          <a:xfrm>
            <a:off x="1581150" y="5514975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88 / 300 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EB9758-6F2E-437E-B1DD-84A86ED1441A}"/>
              </a:ext>
            </a:extLst>
          </p:cNvPr>
          <p:cNvSpPr>
            <a:spLocks noGrp="1"/>
          </p:cNvSpPr>
          <p:nvPr/>
        </p:nvSpPr>
        <p:spPr>
          <a:xfrm>
            <a:off x="5219700" y="5514975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91 / 300 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2C4C20-5E7A-43FC-B956-78D1048EDC20}"/>
              </a:ext>
            </a:extLst>
          </p:cNvPr>
          <p:cNvSpPr>
            <a:spLocks noGrp="1"/>
          </p:cNvSpPr>
          <p:nvPr/>
        </p:nvSpPr>
        <p:spPr>
          <a:xfrm>
            <a:off x="8848725" y="5514975"/>
            <a:ext cx="2714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200 / 360 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80C22-BA6F-489C-B5C6-A66631ABD987}"/>
              </a:ext>
            </a:extLst>
          </p:cNvPr>
          <p:cNvSpPr>
            <a:spLocks noGrp="1"/>
          </p:cNvSpPr>
          <p:nvPr/>
        </p:nvSpPr>
        <p:spPr>
          <a:xfrm>
            <a:off x="628650" y="6096000"/>
            <a:ext cx="10382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正确率采用编译、导入、自测及模型需求评审的自动验收口径</a:t>
            </a:r>
            <a:r>
              <a:rPr sz="1425" b="0" dirty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5931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A305AC6-EE39-4D0D-9475-5276BA35B58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347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最终结果统计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EBF4C7-E2F2-4445-8E7E-49F14CABD16A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正确率 = 最终验收通过次数 ÷ 全部实验运行次数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6E3B00-E1D2-40D1-8253-6D08411671FD}"/>
              </a:ext>
            </a:extLst>
          </p:cNvPr>
          <p:cNvSpPr>
            <a:spLocks noGrp="1"/>
          </p:cNvSpPr>
          <p:nvPr/>
        </p:nvSpPr>
        <p:spPr>
          <a:xfrm>
            <a:off x="11144250" y="6315075"/>
            <a:ext cx="4953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28650" y="2028825"/>
          <a:ext cx="10934700" cy="285750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实验方案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运行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较基线差值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ChatDev 基线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 / 300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29.33%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ChatDev + MPST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 / 300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30.33%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+1.00 个百分点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ChatDev + MPST + 契约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/ 360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55.56%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+26.22 </a:t>
                      </a:r>
                      <a:r>
                        <a:rPr sz="1950" dirty="0" err="1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个百分点</a:t>
                      </a:r>
                      <a:endParaRPr sz="1950" dirty="0">
                        <a:solidFill>
                          <a:srgbClr val="F3F7F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E910031-8F9E-4858-B96E-ABE44C346D7F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106203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加入契约的实验组较仅</a:t>
            </a:r>
            <a:r>
              <a:rPr sz="2325" b="1" dirty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 MPST </a:t>
            </a:r>
            <a:r>
              <a:rPr sz="2325" b="1" dirty="0" err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组高</a:t>
            </a:r>
            <a:r>
              <a:rPr sz="2325" b="1" dirty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 25.22 </a:t>
            </a:r>
            <a:r>
              <a:rPr sz="2325" b="1" dirty="0" err="1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个百分点</a:t>
            </a:r>
            <a:endParaRPr sz="2325" b="1" dirty="0">
              <a:solidFill>
                <a:srgbClr val="32D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9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761A212-05FF-40D5-ACA0-C5E076A8322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347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3F7FA"/>
                </a:solidFill>
                <a:latin typeface="Microsoft YaHei"/>
                <a:ea typeface="Microsoft YaHei"/>
                <a:cs typeface="Microsoft YaHei"/>
              </a:rPr>
              <a:t>各轮最终验收通过题数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724534-04BA-4949-844C-F9613875842E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每轮 30 题，列出三种方案的全部重复实验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EF0392-6D9B-4125-B9D0-3B1FACA14483}"/>
              </a:ext>
            </a:extLst>
          </p:cNvPr>
          <p:cNvSpPr>
            <a:spLocks noGrp="1"/>
          </p:cNvSpPr>
          <p:nvPr/>
        </p:nvSpPr>
        <p:spPr>
          <a:xfrm>
            <a:off x="11144250" y="6315075"/>
            <a:ext cx="4953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D9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28650" y="1952625"/>
          <a:ext cx="5248275" cy="34099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13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MPST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MPST + 契约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R4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R5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R6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324600" y="1952625"/>
          <a:ext cx="5238750" cy="34099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13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MPST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2D9C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MPST + 契约</a:t>
                      </a:r>
                    </a:p>
                  </a:txBody>
                  <a:tcPr marL="114300" marR="95250" marT="95250" marB="76200">
                    <a:solidFill>
                      <a:srgbClr val="12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R11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1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R12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3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95250" marT="95250" marB="76200">
                    <a:solidFill>
                      <a:srgbClr val="0D1B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DB9AB74-521A-4649-AAC5-73295B6B82B1}"/>
              </a:ext>
            </a:extLst>
          </p:cNvPr>
          <p:cNvSpPr>
            <a:spLocks noGrp="1"/>
          </p:cNvSpPr>
          <p:nvPr/>
        </p:nvSpPr>
        <p:spPr>
          <a:xfrm>
            <a:off x="628650" y="6200775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生成模型：glm-5.3-flash:cloud    评估模型：gpt-oss:120b-cloud</a:t>
            </a:r>
          </a:p>
        </p:txBody>
      </p:sp>
    </p:spTree>
    <p:extLst>
      <p:ext uri="{BB962C8B-B14F-4D97-AF65-F5344CB8AC3E}">
        <p14:creationId xmlns:p14="http://schemas.microsoft.com/office/powerpoint/2010/main" val="10941854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DocSecurity>0</DocSecurity>
  <PresentationFormat>宽屏</PresentationFormat>
  <Paragraphs>103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k34084</cp:lastModifiedBy>
  <cp:revision>1</cp:revision>
  <dcterms:created xsi:type="dcterms:W3CDTF">2026-10-07T08:36:57Z</dcterms:created>
  <dcterms:modified xsi:type="dcterms:W3CDTF">2026-10-07T16:18:14Z</dcterms:modified>
</cp:coreProperties>
</file>